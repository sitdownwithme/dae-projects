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0" d="100"/>
          <a:sy n="70" d="100"/>
        </p:scale>
        <p:origin x="1810"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0915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 Thank the audience and briefly say this is my November update for my Law Enforcement-style Security Operations Center project. Mention that you'll walk through the environment, new AI technology, the troubleshooting journey, and how you're balancing everything.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goal is to build a realistic mini SOC that could sit inside a police department or public safety agency. Emphasize critical infrastructure, evidence handling, and the Red Team/Blue Team setup. Connect this to your long-term goal of working in law enforcement cybersecurity.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how traditional SIEMs show lots of alerts and how the AI Log-Triage Assistant sits on top, reading Wazuh JSON alerts and summarizing them. Call out that it gives severity, MITRE mapping, and recommended actions, which mirrors a Tier-1 SOC analyst. Note that you can swap between OpenAI API and a local LLaMA model for CJIS-style environments.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file proves you didn't just freestyle the month. You picked a technology, wrote down why it matters, how you'll learn it, and what proof you'll collect. This mirrors how real teams do planning before starting an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this markdown file is your running journal for observability. Mention the /health endpoint JSON output and how logging AI events gives traceability — useful if an alert ever needs to be explained in a report or courtroom context. This shows you think like an engineer and an analyst.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that this isn't copied documentation — it's your own tutorial. Emphasize that you wrote it with another student in mind, to make your work repeatable. That's a core skill in both SOC and engineering.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Parrot OS as your offensive box. Mention typical actions: nmap scans, brute-force attempts, malware simulations. Emphasize this is how you bring the 'threat' into your environment so Wazuh and pfSense have something real to detect.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this box is the one you're defending. It's where the Wazuh agent runs, sending logs to the manager. Mention that many of your problems came from getting this system properly enrolled and communicating.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this screenshot shows the `ip a` output.</a:t>
            </a:r>
          </a:p>
          <a:p>
            <a:r>
              <a:t>- lo is the loopback.</a:t>
            </a:r>
          </a:p>
          <a:p>
            <a:r>
              <a:t>- enp0s3 is down, meaning that adapter isn't passing traffic.</a:t>
            </a:r>
          </a:p>
          <a:p>
            <a:r>
              <a:t>- enp0s8 is UP with IP 192.168.1.50/24 and broadcast 192.168.1.255.</a:t>
            </a:r>
          </a:p>
          <a:p>
            <a:r>
              <a:t>This confirmed the Ubuntu VM was on the 192.168.1.x LAN behind pfSense. You used this to validate networking before blaming Wazuh.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what these logs tell you: the kernel is detecting CPUs, memory, timer LAPIC quality, and initializing the Intel Secure Key RNG. In a SOC mindset, this screenshot is evidence that your firewall platform is stable and ready to generate and forward logs.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top of the screenshot: `agent_control` listing agents with IDs 000 (manager), 009 (ubuntu-wazuh), 010 (laptop). This proves the manager knows about multiple agents. The `ipconfig` output shows the Windows Ethernet adapter IPv4 address 192.168.187.1, which you later used as the manager IP when enrolling the Ubuntu agent.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out that this is what the environment looked like at first: zero agents, zero alerts. Explain that this pushed you to investigate agent enrollment, networking, and service status.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this table shows agent ID 009 with name ubuntu-wazuh and status 'never connected'. You learned that just creating an agent on the manager isn't enough — the key exchange and connection from the endpoint must succeed.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 down the commands at the bottom:</a:t>
            </a:r>
          </a:p>
          <a:p>
            <a:r>
              <a:t>- `sudo systemctl restart wazuh-agent` : restarts the agent service.</a:t>
            </a:r>
          </a:p>
          <a:p>
            <a:r>
              <a:t>- `sleep 5` : waits 5 seconds to let it come up.</a:t>
            </a:r>
          </a:p>
          <a:p>
            <a:r>
              <a:t>- `/var/ossec/bin/agent_control -i` : attempts to query agent info locally.</a:t>
            </a:r>
          </a:p>
          <a:p>
            <a:r>
              <a:t>The error 'command not found' hinted that either the binary path was wrong or the agent package wasn't installed as expected. The logs above show repeated attempts to connect to 192.168.187.1:1514/tcp, confirming networking was in play.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through the key lines:</a:t>
            </a:r>
          </a:p>
          <a:p>
            <a:r>
              <a:t>- 'No authentication password provided' – you tried enrolling without a new key.</a:t>
            </a:r>
          </a:p>
          <a:p>
            <a:r>
              <a:t>- 'Using agent name as: LAPTOP-7B26NLN9' – host kept its default name.</a:t>
            </a:r>
          </a:p>
          <a:p>
            <a:r>
              <a:t>- 'ERROR: Duplicate agent name' – manager already had an entry for that hostname.</a:t>
            </a:r>
          </a:p>
          <a:p>
            <a:r>
              <a:t>This taught you that Wazuh enforces unique agent names to avoid confusion and that you must clear old entries and keys before re-enrolling.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 down the commands visible:</a:t>
            </a:r>
          </a:p>
          <a:p>
            <a:r>
              <a:t>- `sudo rm -f /var/ossec/etc/client.keys` : forcefully deletes old key file so the agent can request a fresh one.</a:t>
            </a:r>
          </a:p>
          <a:p>
            <a:r>
              <a:t>- `sudo /var/ossec/bin/agent-auth -m 192.168.187.1 -A ubuntu-wazuh` : contacts the manager at 192.168.187.1, registers under the name ubuntu-wazuh, and waits for a valid key.</a:t>
            </a:r>
          </a:p>
          <a:p>
            <a:r>
              <a:t>- `sudo systemctl start wazuh-agent` and then `sudo systemctl status wazuh-agent` : starts the service and confirms it's running, showing execd, agentd, syscheckd, logcollector, and modulesd processes. You can say: 'This screenshot is the moment the agent finally joined the SOC for real.'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class through this like a story: each week had a different main problem, and each fix brought you closer to a stable SOC. Emphasize persistence and learning from logs instead of guessing.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this part of the board shows the foundation: building the lab, installing Wazuh, creating early rules. This is proof that you laid the groundwork before things got messy.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honest: say the board doesn't fully reflect your effort because most of your energy went into solving technical issues instead of updating statuses. Emphasize that you now understand the importance of keeping project tracking in sync with real work.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through this as your roadmap going forward. Show that you aren't just reacting; you have a concrete plan to close gaps and deliver a complete SOC demonstration.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humanize the journey. Mention that despite challenges, you emailed staff, responded to check-ins, and kept them updated. Emphasize that in law enforcement and SOC work, communication and honesty are as important as technical skills.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summarizing your growth: technical skills, persistence, planning, and balance. Tie it back to your goal of serving in law enforcement cyber or digital forensics. Thank the audience and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Mini SOC for Law Enforcement – November 2025</a:t>
            </a:r>
          </a:p>
        </p:txBody>
      </p:sp>
      <p:sp>
        <p:nvSpPr>
          <p:cNvPr id="3" name="Content Placeholder 2"/>
          <p:cNvSpPr>
            <a:spLocks noGrp="1"/>
          </p:cNvSpPr>
          <p:nvPr>
            <p:ph idx="1"/>
          </p:nvPr>
        </p:nvSpPr>
        <p:spPr/>
        <p:txBody>
          <a:bodyPr/>
          <a:lstStyle/>
          <a:p>
            <a:pPr marL="457200" lvl="1" indent="0">
              <a:buNone/>
              <a:defRPr sz="2200">
                <a:solidFill>
                  <a:srgbClr val="FFFFFF"/>
                </a:solidFill>
              </a:defRPr>
            </a:pPr>
            <a:r>
              <a:rPr dirty="0"/>
              <a:t>– Law Enforcement SOC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Project Overview: Mini SOC for Law Enforcement</a:t>
            </a:r>
          </a:p>
        </p:txBody>
      </p:sp>
      <p:sp>
        <p:nvSpPr>
          <p:cNvPr id="3" name="Content Placeholder 2"/>
          <p:cNvSpPr>
            <a:spLocks noGrp="1"/>
          </p:cNvSpPr>
          <p:nvPr>
            <p:ph idx="1"/>
          </p:nvPr>
        </p:nvSpPr>
        <p:spPr/>
        <p:txBody>
          <a:bodyPr>
            <a:normAutofit lnSpcReduction="10000"/>
          </a:bodyPr>
          <a:lstStyle/>
          <a:p>
            <a:endParaRPr/>
          </a:p>
          <a:p>
            <a:pPr lvl="1">
              <a:defRPr sz="2200">
                <a:solidFill>
                  <a:srgbClr val="FFFFFF"/>
                </a:solidFill>
              </a:defRPr>
            </a:pPr>
            <a:r>
              <a:t>Simulated Security Operations Center for police-style cyber operations</a:t>
            </a:r>
          </a:p>
          <a:p>
            <a:pPr lvl="1">
              <a:defRPr sz="2200">
                <a:solidFill>
                  <a:srgbClr val="FFFFFF"/>
                </a:solidFill>
              </a:defRPr>
            </a:pPr>
            <a:r>
              <a:t>Detects, analyzes, and responds to threats against critical infrastructure</a:t>
            </a:r>
          </a:p>
          <a:p>
            <a:pPr lvl="1">
              <a:defRPr sz="2200">
                <a:solidFill>
                  <a:srgbClr val="FFFFFF"/>
                </a:solidFill>
              </a:defRPr>
            </a:pPr>
            <a:r>
              <a:t>Implements chain-of-custody and courtroom-ready evidence workflows</a:t>
            </a:r>
          </a:p>
          <a:p>
            <a:pPr lvl="1">
              <a:defRPr sz="2200">
                <a:solidFill>
                  <a:srgbClr val="FFFFFF"/>
                </a:solidFill>
              </a:defRPr>
            </a:pPr>
            <a:r>
              <a:t>Red Team (Parrot OS attacker) vs Blue Team (Ubuntu endpoint) structure</a:t>
            </a:r>
          </a:p>
          <a:p>
            <a:pPr lvl="1">
              <a:defRPr sz="2200">
                <a:solidFill>
                  <a:srgbClr val="FFFFFF"/>
                </a:solidFill>
              </a:defRPr>
            </a:pPr>
            <a:r>
              <a:t>SIEM dashboards, detection rules, and incident playbooks</a:t>
            </a:r>
          </a:p>
          <a:p>
            <a:pPr lvl="1">
              <a:defRPr sz="2200">
                <a:solidFill>
                  <a:srgbClr val="FFFFFF"/>
                </a:solidFill>
              </a:defRPr>
            </a:pPr>
            <a:r>
              <a:t>Bridges classroom learning with real-world law enforcement cybersecurity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New Technology Integrated</a:t>
            </a:r>
          </a:p>
        </p:txBody>
      </p:sp>
      <p:sp>
        <p:nvSpPr>
          <p:cNvPr id="3" name="Content Placeholder 2"/>
          <p:cNvSpPr>
            <a:spLocks noGrp="1"/>
          </p:cNvSpPr>
          <p:nvPr>
            <p:ph idx="1"/>
          </p:nvPr>
        </p:nvSpPr>
        <p:spPr>
          <a:xfrm>
            <a:off x="370115" y="1077686"/>
            <a:ext cx="4201886" cy="5366657"/>
          </a:xfrm>
        </p:spPr>
        <p:txBody>
          <a:bodyPr>
            <a:normAutofit lnSpcReduction="10000"/>
          </a:bodyPr>
          <a:lstStyle/>
          <a:p>
            <a:endParaRPr dirty="0"/>
          </a:p>
          <a:p>
            <a:pPr lvl="1">
              <a:defRPr sz="2200">
                <a:solidFill>
                  <a:srgbClr val="FFFFFF"/>
                </a:solidFill>
              </a:defRPr>
            </a:pPr>
            <a:r>
              <a:rPr dirty="0"/>
              <a:t>AI Log-Triage Assistant (OpenAI API or local </a:t>
            </a:r>
            <a:r>
              <a:rPr dirty="0" err="1"/>
              <a:t>LLaMA</a:t>
            </a:r>
            <a:r>
              <a:rPr dirty="0"/>
              <a:t> via Ollama)</a:t>
            </a:r>
          </a:p>
          <a:p>
            <a:pPr lvl="1">
              <a:defRPr sz="2200">
                <a:solidFill>
                  <a:srgbClr val="FFFFFF"/>
                </a:solidFill>
              </a:defRPr>
            </a:pPr>
            <a:r>
              <a:rPr dirty="0"/>
              <a:t>Health-check /health endpoint to verify model and API availability</a:t>
            </a:r>
          </a:p>
          <a:p>
            <a:pPr lvl="1">
              <a:defRPr sz="2200">
                <a:solidFill>
                  <a:srgbClr val="FFFFFF"/>
                </a:solidFill>
              </a:defRPr>
            </a:pPr>
            <a:r>
              <a:rPr dirty="0"/>
              <a:t>Automatic </a:t>
            </a:r>
            <a:r>
              <a:rPr dirty="0" err="1"/>
              <a:t>Wazuh</a:t>
            </a:r>
            <a:r>
              <a:rPr dirty="0"/>
              <a:t> alert → AI summary workflow</a:t>
            </a:r>
          </a:p>
          <a:p>
            <a:pPr lvl="1">
              <a:defRPr sz="2200">
                <a:solidFill>
                  <a:srgbClr val="FFFFFF"/>
                </a:solidFill>
              </a:defRPr>
            </a:pPr>
            <a:r>
              <a:rPr dirty="0"/>
              <a:t>MITRE ATT&amp;CK tactic/technique mapping via the LLM</a:t>
            </a:r>
          </a:p>
          <a:p>
            <a:pPr lvl="1">
              <a:defRPr sz="2200">
                <a:solidFill>
                  <a:srgbClr val="FFFFFF"/>
                </a:solidFill>
              </a:defRPr>
            </a:pPr>
            <a:r>
              <a:rPr dirty="0"/>
              <a:t>Outputs severity, likely impact, and next recommended SOC actions</a:t>
            </a:r>
          </a:p>
        </p:txBody>
      </p:sp>
      <p:sp>
        <p:nvSpPr>
          <p:cNvPr id="6" name="TextBox 5">
            <a:extLst>
              <a:ext uri="{FF2B5EF4-FFF2-40B4-BE49-F238E27FC236}">
                <a16:creationId xmlns:a16="http://schemas.microsoft.com/office/drawing/2014/main" id="{0E132D16-3CA6-DC95-E595-0CB6A5B9681F}"/>
              </a:ext>
            </a:extLst>
          </p:cNvPr>
          <p:cNvSpPr txBox="1"/>
          <p:nvPr/>
        </p:nvSpPr>
        <p:spPr>
          <a:xfrm>
            <a:off x="5987142" y="1567543"/>
            <a:ext cx="2699658" cy="4524315"/>
          </a:xfrm>
          <a:prstGeom prst="rect">
            <a:avLst/>
          </a:prstGeom>
          <a:noFill/>
        </p:spPr>
        <p:txBody>
          <a:bodyPr wrap="square" rtlCol="0">
            <a:spAutoFit/>
          </a:bodyPr>
          <a:lstStyle/>
          <a:p>
            <a:r>
              <a:rPr lang="en-US" dirty="0"/>
              <a:t>“</a:t>
            </a:r>
            <a:r>
              <a:rPr lang="en-US" dirty="0">
                <a:solidFill>
                  <a:schemeClr val="bg1"/>
                </a:solidFill>
              </a:rPr>
              <a:t>The AI is my smartest assistant coach.</a:t>
            </a:r>
            <a:br>
              <a:rPr lang="en-US" dirty="0">
                <a:solidFill>
                  <a:schemeClr val="bg1"/>
                </a:solidFill>
              </a:rPr>
            </a:br>
            <a:r>
              <a:rPr lang="en-US" dirty="0">
                <a:solidFill>
                  <a:schemeClr val="bg1"/>
                </a:solidFill>
              </a:rPr>
              <a:t>When the other team runs a tricky play,</a:t>
            </a:r>
            <a:br>
              <a:rPr lang="en-US" dirty="0">
                <a:solidFill>
                  <a:schemeClr val="bg1"/>
                </a:solidFill>
              </a:rPr>
            </a:br>
            <a:r>
              <a:rPr lang="en-US" dirty="0">
                <a:solidFill>
                  <a:schemeClr val="bg1"/>
                </a:solidFill>
              </a:rPr>
              <a:t>my coach watches it fast, explains it to me,</a:t>
            </a:r>
            <a:br>
              <a:rPr lang="en-US" dirty="0">
                <a:solidFill>
                  <a:schemeClr val="bg1"/>
                </a:solidFill>
              </a:rPr>
            </a:br>
            <a:r>
              <a:rPr lang="en-US" dirty="0">
                <a:solidFill>
                  <a:schemeClr val="bg1"/>
                </a:solidFill>
              </a:rPr>
              <a:t>tells me how dangerous it was,</a:t>
            </a:r>
            <a:br>
              <a:rPr lang="en-US" dirty="0">
                <a:solidFill>
                  <a:schemeClr val="bg1"/>
                </a:solidFill>
              </a:rPr>
            </a:br>
            <a:r>
              <a:rPr lang="en-US" dirty="0">
                <a:solidFill>
                  <a:schemeClr val="bg1"/>
                </a:solidFill>
              </a:rPr>
              <a:t>and helps me pick the next play so we don’t get scored on.”</a:t>
            </a:r>
          </a:p>
          <a:p>
            <a:r>
              <a:rPr lang="en-US" dirty="0">
                <a:solidFill>
                  <a:schemeClr val="bg1"/>
                </a:solidFill>
              </a:rPr>
              <a:t>That’s your whole system.</a:t>
            </a:r>
            <a:br>
              <a:rPr lang="en-US" dirty="0">
                <a:solidFill>
                  <a:schemeClr val="bg1"/>
                </a:solidFill>
              </a:rPr>
            </a:br>
            <a:r>
              <a:rPr lang="en-US" dirty="0">
                <a:solidFill>
                  <a:schemeClr val="bg1"/>
                </a:solidFill>
              </a:rPr>
              <a:t>That’s how it fits your SOC.</a:t>
            </a:r>
            <a:br>
              <a:rPr lang="en-US" dirty="0">
                <a:solidFill>
                  <a:schemeClr val="bg1"/>
                </a:solidFill>
              </a:rPr>
            </a:br>
            <a:r>
              <a:rPr lang="en-US" dirty="0">
                <a:solidFill>
                  <a:schemeClr val="bg1"/>
                </a:solidFill>
              </a:rPr>
              <a:t>That’s how it fits the real world.</a:t>
            </a:r>
            <a:br>
              <a:rPr lang="en-US" dirty="0">
                <a:solidFill>
                  <a:schemeClr val="bg1"/>
                </a:solidFill>
              </a:rPr>
            </a:br>
            <a:r>
              <a:rPr lang="en-US" dirty="0">
                <a:solidFill>
                  <a:schemeClr val="bg1"/>
                </a:solidFill>
              </a:rPr>
              <a:t>That’s why it’s </a:t>
            </a:r>
            <a:r>
              <a:rPr lang="en-US" b="1" dirty="0">
                <a:solidFill>
                  <a:schemeClr val="bg1"/>
                </a:solidFill>
              </a:rPr>
              <a:t>elite</a:t>
            </a:r>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MD File: Learning PLAN</a:t>
            </a:r>
          </a:p>
        </p:txBody>
      </p:sp>
      <p:sp>
        <p:nvSpPr>
          <p:cNvPr id="3" name="Content Placeholder 2"/>
          <p:cNvSpPr>
            <a:spLocks noGrp="1"/>
          </p:cNvSpPr>
          <p:nvPr>
            <p:ph idx="1"/>
          </p:nvPr>
        </p:nvSpPr>
        <p:spPr/>
        <p:txBody>
          <a:bodyPr/>
          <a:lstStyle/>
          <a:p>
            <a:endParaRPr/>
          </a:p>
          <a:p>
            <a:pPr lvl="1">
              <a:defRPr sz="2200">
                <a:solidFill>
                  <a:srgbClr val="FFFFFF"/>
                </a:solidFill>
              </a:defRPr>
            </a:pPr>
            <a:r>
              <a:t>One-page roadmap created on 2025-10-27</a:t>
            </a:r>
          </a:p>
          <a:p>
            <a:pPr lvl="1">
              <a:defRPr sz="2200">
                <a:solidFill>
                  <a:srgbClr val="FFFFFF"/>
                </a:solidFill>
              </a:defRPr>
            </a:pPr>
            <a:r>
              <a:t>Chosen technology: AI Log-Triage Assistant (OpenAI or local LLM)</a:t>
            </a:r>
          </a:p>
          <a:p>
            <a:pPr lvl="1">
              <a:defRPr sz="2200">
                <a:solidFill>
                  <a:srgbClr val="FFFFFF"/>
                </a:solidFill>
              </a:defRPr>
            </a:pPr>
            <a:r>
              <a:t>Defines what success looks like and what evidence you will capture</a:t>
            </a:r>
          </a:p>
          <a:p>
            <a:pPr lvl="1">
              <a:defRPr sz="2200">
                <a:solidFill>
                  <a:srgbClr val="FFFFFF"/>
                </a:solidFill>
              </a:defRPr>
            </a:pPr>
            <a:r>
              <a:t>Commits to keeping the plan updated as the project evolves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MD File: Observability &amp; Logging Notes</a:t>
            </a:r>
          </a:p>
        </p:txBody>
      </p:sp>
      <p:sp>
        <p:nvSpPr>
          <p:cNvPr id="3" name="Content Placeholder 2"/>
          <p:cNvSpPr>
            <a:spLocks noGrp="1"/>
          </p:cNvSpPr>
          <p:nvPr>
            <p:ph idx="1"/>
          </p:nvPr>
        </p:nvSpPr>
        <p:spPr/>
        <p:txBody>
          <a:bodyPr/>
          <a:lstStyle/>
          <a:p>
            <a:endParaRPr/>
          </a:p>
          <a:p>
            <a:pPr lvl="1">
              <a:defRPr sz="2200">
                <a:solidFill>
                  <a:srgbClr val="FFFFFF"/>
                </a:solidFill>
              </a:defRPr>
            </a:pPr>
            <a:r>
              <a:t>Documented observability work for the AI triage integration</a:t>
            </a:r>
          </a:p>
          <a:p>
            <a:pPr lvl="1">
              <a:defRPr sz="2200">
                <a:solidFill>
                  <a:srgbClr val="FFFFFF"/>
                </a:solidFill>
              </a:defRPr>
            </a:pPr>
            <a:r>
              <a:t>Implemented /health endpoint returning status, uptime, and model version</a:t>
            </a:r>
          </a:p>
          <a:p>
            <a:pPr lvl="1">
              <a:defRPr sz="2200">
                <a:solidFill>
                  <a:srgbClr val="FFFFFF"/>
                </a:solidFill>
              </a:defRPr>
            </a:pPr>
            <a:r>
              <a:t>Logs AI events such as ai_alert_triage_summary_generated</a:t>
            </a:r>
          </a:p>
          <a:p>
            <a:pPr lvl="1">
              <a:defRPr sz="2200">
                <a:solidFill>
                  <a:srgbClr val="FFFFFF"/>
                </a:solidFill>
              </a:defRPr>
            </a:pPr>
            <a:r>
              <a:t>Tracks how the model, API, and Wazuh integration behave over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MD File: AI Triage Tutorial</a:t>
            </a:r>
          </a:p>
        </p:txBody>
      </p:sp>
      <p:sp>
        <p:nvSpPr>
          <p:cNvPr id="3" name="Content Placeholder 2"/>
          <p:cNvSpPr>
            <a:spLocks noGrp="1"/>
          </p:cNvSpPr>
          <p:nvPr>
            <p:ph idx="1"/>
          </p:nvPr>
        </p:nvSpPr>
        <p:spPr/>
        <p:txBody>
          <a:bodyPr/>
          <a:lstStyle/>
          <a:p>
            <a:endParaRPr/>
          </a:p>
          <a:p>
            <a:pPr lvl="1">
              <a:defRPr sz="2200">
                <a:solidFill>
                  <a:srgbClr val="FFFFFF"/>
                </a:solidFill>
              </a:defRPr>
            </a:pPr>
            <a:r>
              <a:t>Self-authored tutorial documenting how to build the AI triage assistant</a:t>
            </a:r>
          </a:p>
          <a:p>
            <a:pPr lvl="1">
              <a:defRPr sz="2200">
                <a:solidFill>
                  <a:srgbClr val="FFFFFF"/>
                </a:solidFill>
              </a:defRPr>
            </a:pPr>
            <a:r>
              <a:t>Covers what the feature teaches and the real-world SOC use case</a:t>
            </a:r>
          </a:p>
          <a:p>
            <a:pPr lvl="1">
              <a:defRPr sz="2200">
                <a:solidFill>
                  <a:srgbClr val="FFFFFF"/>
                </a:solidFill>
              </a:defRPr>
            </a:pPr>
            <a:r>
              <a:t>Explains how alerts move from Wazuh JSON into AI-generated summaries</a:t>
            </a:r>
          </a:p>
          <a:p>
            <a:pPr lvl="1">
              <a:defRPr sz="2200">
                <a:solidFill>
                  <a:srgbClr val="FFFFFF"/>
                </a:solidFill>
              </a:defRPr>
            </a:pPr>
            <a:r>
              <a:t>Written so another student or teammate could repeat your 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Parrot OS – Red Team Attacker Machine</a:t>
            </a:r>
          </a:p>
        </p:txBody>
      </p:sp>
      <p:sp>
        <p:nvSpPr>
          <p:cNvPr id="3" name="Content Placeholder 2"/>
          <p:cNvSpPr>
            <a:spLocks noGrp="1"/>
          </p:cNvSpPr>
          <p:nvPr>
            <p:ph idx="1"/>
          </p:nvPr>
        </p:nvSpPr>
        <p:spPr/>
        <p:txBody>
          <a:bodyPr/>
          <a:lstStyle/>
          <a:p>
            <a:endParaRPr/>
          </a:p>
          <a:p>
            <a:pPr lvl="1">
              <a:defRPr sz="2200">
                <a:solidFill>
                  <a:srgbClr val="FFFFFF"/>
                </a:solidFill>
              </a:defRPr>
            </a:pPr>
            <a:r>
              <a:t>Attacker VM used for recon, scanning, and exploitation attempts</a:t>
            </a:r>
          </a:p>
          <a:p>
            <a:pPr lvl="1">
              <a:defRPr sz="2200">
                <a:solidFill>
                  <a:srgbClr val="FFFFFF"/>
                </a:solidFill>
              </a:defRPr>
            </a:pPr>
            <a:r>
              <a:t>Generates realistic adversarial traffic against the lab</a:t>
            </a:r>
          </a:p>
          <a:p>
            <a:pPr lvl="1">
              <a:defRPr sz="2200">
                <a:solidFill>
                  <a:srgbClr val="FFFFFF"/>
                </a:solidFill>
              </a:defRPr>
            </a:pPr>
            <a:r>
              <a:t>Helps validate detection rules, alerts, and firewall behavior</a:t>
            </a:r>
          </a:p>
        </p:txBody>
      </p:sp>
      <p:pic>
        <p:nvPicPr>
          <p:cNvPr id="5" name="Picture 4" descr="a179abdf-af30-4618-9b48-1610b80f5664.png">
            <a:extLst>
              <a:ext uri="{FF2B5EF4-FFF2-40B4-BE49-F238E27FC236}">
                <a16:creationId xmlns:a16="http://schemas.microsoft.com/office/drawing/2014/main" id="{04DEDD92-93DF-4632-7CD0-B29F2D462C32}"/>
              </a:ext>
            </a:extLst>
          </p:cNvPr>
          <p:cNvPicPr>
            <a:picLocks noChangeAspect="1"/>
          </p:cNvPicPr>
          <p:nvPr/>
        </p:nvPicPr>
        <p:blipFill>
          <a:blip r:embed="rId3"/>
          <a:stretch>
            <a:fillRect/>
          </a:stretch>
        </p:blipFill>
        <p:spPr>
          <a:xfrm>
            <a:off x="537753" y="3766533"/>
            <a:ext cx="4447904" cy="26260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Ubuntu VM – Blue Team Monitored Endpoint</a:t>
            </a:r>
          </a:p>
        </p:txBody>
      </p:sp>
      <p:sp>
        <p:nvSpPr>
          <p:cNvPr id="3" name="Content Placeholder 2"/>
          <p:cNvSpPr>
            <a:spLocks noGrp="1"/>
          </p:cNvSpPr>
          <p:nvPr>
            <p:ph idx="1"/>
          </p:nvPr>
        </p:nvSpPr>
        <p:spPr/>
        <p:txBody>
          <a:bodyPr/>
          <a:lstStyle/>
          <a:p>
            <a:endParaRPr/>
          </a:p>
          <a:p>
            <a:pPr lvl="1">
              <a:defRPr sz="2200">
                <a:solidFill>
                  <a:srgbClr val="FFFFFF"/>
                </a:solidFill>
              </a:defRPr>
            </a:pPr>
            <a:r>
              <a:t>Primary workstation monitored with a Wazuh agent</a:t>
            </a:r>
          </a:p>
          <a:p>
            <a:pPr lvl="1">
              <a:defRPr sz="2200">
                <a:solidFill>
                  <a:srgbClr val="FFFFFF"/>
                </a:solidFill>
              </a:defRPr>
            </a:pPr>
            <a:r>
              <a:t>Simulates a user machine in a police or government network</a:t>
            </a:r>
          </a:p>
          <a:p>
            <a:pPr lvl="1">
              <a:defRPr sz="2200">
                <a:solidFill>
                  <a:srgbClr val="FFFFFF"/>
                </a:solidFill>
              </a:defRPr>
            </a:pPr>
            <a:r>
              <a:t>Central to your troubleshooting: connectivity, agent errors, and duplicate names</a:t>
            </a:r>
          </a:p>
        </p:txBody>
      </p:sp>
      <p:pic>
        <p:nvPicPr>
          <p:cNvPr id="5" name="Picture 4" descr="dffd1178-96d4-4a9f-89b3-c0e452549400.png">
            <a:extLst>
              <a:ext uri="{FF2B5EF4-FFF2-40B4-BE49-F238E27FC236}">
                <a16:creationId xmlns:a16="http://schemas.microsoft.com/office/drawing/2014/main" id="{C85E429C-5752-93F1-10FC-A39072190D58}"/>
              </a:ext>
            </a:extLst>
          </p:cNvPr>
          <p:cNvPicPr>
            <a:picLocks noChangeAspect="1"/>
          </p:cNvPicPr>
          <p:nvPr/>
        </p:nvPicPr>
        <p:blipFill>
          <a:blip r:embed="rId3"/>
          <a:stretch>
            <a:fillRect/>
          </a:stretch>
        </p:blipFill>
        <p:spPr>
          <a:xfrm>
            <a:off x="896982" y="3701143"/>
            <a:ext cx="3713026" cy="32096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Ubuntu Network Interfaces – enp0s3 &amp; enp0s8</a:t>
            </a:r>
          </a:p>
        </p:txBody>
      </p:sp>
      <p:sp>
        <p:nvSpPr>
          <p:cNvPr id="3" name="Content Placeholder 2"/>
          <p:cNvSpPr>
            <a:spLocks noGrp="1"/>
          </p:cNvSpPr>
          <p:nvPr>
            <p:ph idx="1"/>
          </p:nvPr>
        </p:nvSpPr>
        <p:spPr/>
        <p:txBody>
          <a:bodyPr/>
          <a:lstStyle/>
          <a:p>
            <a:endParaRPr/>
          </a:p>
          <a:p>
            <a:pPr lvl="1">
              <a:defRPr sz="2200">
                <a:solidFill>
                  <a:srgbClr val="FFFFFF"/>
                </a:solidFill>
              </a:defRPr>
            </a:pPr>
            <a:r>
              <a:t>Checked interface status and IPs while debugging connectivity</a:t>
            </a:r>
          </a:p>
          <a:p>
            <a:pPr lvl="1">
              <a:defRPr sz="2200">
                <a:solidFill>
                  <a:srgbClr val="FFFFFF"/>
                </a:solidFill>
              </a:defRPr>
            </a:pPr>
            <a:r>
              <a:t>enp0s3 down, enp0s8 up with 192.168.1.50/24 on the lab LAN</a:t>
            </a:r>
          </a:p>
          <a:p>
            <a:pPr lvl="1">
              <a:defRPr sz="2200">
                <a:solidFill>
                  <a:srgbClr val="FFFFFF"/>
                </a:solidFill>
              </a:defRPr>
            </a:pPr>
            <a:r>
              <a:t>Confirmed that the VM was in the correct pfSense-managed subnet</a:t>
            </a:r>
          </a:p>
        </p:txBody>
      </p:sp>
      <p:pic>
        <p:nvPicPr>
          <p:cNvPr id="4" name="Picture 3" descr="26eee6ad-90d9-43d1-8bcf-ef1cd2705bd0.png"/>
          <p:cNvPicPr>
            <a:picLocks noChangeAspect="1"/>
          </p:cNvPicPr>
          <p:nvPr/>
        </p:nvPicPr>
        <p:blipFill>
          <a:blip r:embed="rId3"/>
          <a:stretch>
            <a:fillRect/>
          </a:stretch>
        </p:blipFill>
        <p:spPr>
          <a:xfrm>
            <a:off x="2481943" y="3569662"/>
            <a:ext cx="6542314" cy="33251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pfSense Firewall – System &amp; Kernel Logs</a:t>
            </a:r>
          </a:p>
        </p:txBody>
      </p:sp>
      <p:sp>
        <p:nvSpPr>
          <p:cNvPr id="3" name="Content Placeholder 2"/>
          <p:cNvSpPr>
            <a:spLocks noGrp="1"/>
          </p:cNvSpPr>
          <p:nvPr>
            <p:ph idx="1"/>
          </p:nvPr>
        </p:nvSpPr>
        <p:spPr/>
        <p:txBody>
          <a:bodyPr/>
          <a:lstStyle/>
          <a:p>
            <a:endParaRPr/>
          </a:p>
          <a:p>
            <a:pPr lvl="1">
              <a:defRPr sz="2200">
                <a:solidFill>
                  <a:srgbClr val="FFFFFF"/>
                </a:solidFill>
              </a:defRPr>
            </a:pPr>
            <a:r>
              <a:t>PfSense boot sequence and hardware detection logs</a:t>
            </a:r>
          </a:p>
          <a:p>
            <a:pPr lvl="1">
              <a:defRPr sz="2200">
                <a:solidFill>
                  <a:srgbClr val="FFFFFF"/>
                </a:solidFill>
              </a:defRPr>
            </a:pPr>
            <a:r>
              <a:t>Confirms FreeBSD SMP, CPU count, and kernel modules loaded</a:t>
            </a:r>
          </a:p>
          <a:p>
            <a:pPr lvl="1">
              <a:defRPr sz="2200">
                <a:solidFill>
                  <a:srgbClr val="FFFFFF"/>
                </a:solidFill>
              </a:defRPr>
            </a:pPr>
            <a:r>
              <a:t>Shows firewall OS is healthy and ready to forward logs</a:t>
            </a:r>
          </a:p>
        </p:txBody>
      </p:sp>
      <p:pic>
        <p:nvPicPr>
          <p:cNvPr id="4" name="Picture 3" descr="ee7d1725-c330-4ebc-aff7-dd3abdd083f7.png"/>
          <p:cNvPicPr>
            <a:picLocks noChangeAspect="1"/>
          </p:cNvPicPr>
          <p:nvPr/>
        </p:nvPicPr>
        <p:blipFill>
          <a:blip r:embed="rId3"/>
          <a:stretch>
            <a:fillRect/>
          </a:stretch>
        </p:blipFill>
        <p:spPr>
          <a:xfrm>
            <a:off x="667152" y="3429001"/>
            <a:ext cx="7656729" cy="32874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Windows Host – Wazuh Agents &amp; Network Info</a:t>
            </a:r>
          </a:p>
        </p:txBody>
      </p:sp>
      <p:sp>
        <p:nvSpPr>
          <p:cNvPr id="3" name="Content Placeholder 2"/>
          <p:cNvSpPr>
            <a:spLocks noGrp="1"/>
          </p:cNvSpPr>
          <p:nvPr>
            <p:ph idx="1"/>
          </p:nvPr>
        </p:nvSpPr>
        <p:spPr/>
        <p:txBody>
          <a:bodyPr/>
          <a:lstStyle/>
          <a:p>
            <a:endParaRPr/>
          </a:p>
          <a:p>
            <a:pPr lvl="1">
              <a:defRPr sz="2200">
                <a:solidFill>
                  <a:srgbClr val="FFFFFF"/>
                </a:solidFill>
              </a:defRPr>
            </a:pPr>
            <a:r>
              <a:t>Used wazuh-agent-control to list registered agents on the manager</a:t>
            </a:r>
          </a:p>
          <a:p>
            <a:pPr lvl="1">
              <a:defRPr sz="2200">
                <a:solidFill>
                  <a:srgbClr val="FFFFFF"/>
                </a:solidFill>
              </a:defRPr>
            </a:pPr>
            <a:r>
              <a:t>Saw wazuh.manager, ubuntu-wazuh, and Windows laptop agents listed</a:t>
            </a:r>
          </a:p>
          <a:p>
            <a:pPr lvl="1">
              <a:defRPr sz="2200">
                <a:solidFill>
                  <a:srgbClr val="FFFFFF"/>
                </a:solidFill>
              </a:defRPr>
            </a:pPr>
            <a:r>
              <a:t>Ran ipconfig to confirm Windows IPv4 address: 192.168.187.1</a:t>
            </a:r>
          </a:p>
        </p:txBody>
      </p:sp>
      <p:pic>
        <p:nvPicPr>
          <p:cNvPr id="4" name="Picture 3" descr="e3951dc2-ff22-45a1-8b46-8723b8e9adee.png"/>
          <p:cNvPicPr>
            <a:picLocks noChangeAspect="1"/>
          </p:cNvPicPr>
          <p:nvPr/>
        </p:nvPicPr>
        <p:blipFill>
          <a:blip r:embed="rId3"/>
          <a:stretch>
            <a:fillRect/>
          </a:stretch>
        </p:blipFill>
        <p:spPr>
          <a:xfrm>
            <a:off x="4953000" y="4068258"/>
            <a:ext cx="3646713" cy="25151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Wazuh Dashboard – Initial Empty State</a:t>
            </a:r>
          </a:p>
        </p:txBody>
      </p:sp>
      <p:sp>
        <p:nvSpPr>
          <p:cNvPr id="3" name="Content Placeholder 2"/>
          <p:cNvSpPr>
            <a:spLocks noGrp="1"/>
          </p:cNvSpPr>
          <p:nvPr>
            <p:ph idx="1"/>
          </p:nvPr>
        </p:nvSpPr>
        <p:spPr/>
        <p:txBody>
          <a:bodyPr/>
          <a:lstStyle/>
          <a:p>
            <a:endParaRPr/>
          </a:p>
          <a:p>
            <a:pPr lvl="1">
              <a:defRPr sz="2200">
                <a:solidFill>
                  <a:srgbClr val="FFFFFF"/>
                </a:solidFill>
              </a:defRPr>
            </a:pPr>
            <a:r>
              <a:t>Dashboard showed no active agents registered</a:t>
            </a:r>
          </a:p>
          <a:p>
            <a:pPr lvl="1">
              <a:defRPr sz="2200">
                <a:solidFill>
                  <a:srgbClr val="FFFFFF"/>
                </a:solidFill>
              </a:defRPr>
            </a:pPr>
            <a:r>
              <a:t>No critical, high, medium, or low alerts yet</a:t>
            </a:r>
          </a:p>
          <a:p>
            <a:pPr lvl="1">
              <a:defRPr sz="2200">
                <a:solidFill>
                  <a:srgbClr val="FFFFFF"/>
                </a:solidFill>
              </a:defRPr>
            </a:pPr>
            <a:r>
              <a:t>Signaled that agent enrollment and log flow were not working</a:t>
            </a:r>
          </a:p>
        </p:txBody>
      </p:sp>
      <p:pic>
        <p:nvPicPr>
          <p:cNvPr id="4" name="Picture 3" descr="01e4e658-5f59-4764-83bf-e0178f01522d.png"/>
          <p:cNvPicPr>
            <a:picLocks noChangeAspect="1"/>
          </p:cNvPicPr>
          <p:nvPr/>
        </p:nvPicPr>
        <p:blipFill>
          <a:blip r:embed="rId3"/>
          <a:stretch>
            <a:fillRect/>
          </a:stretch>
        </p:blipFill>
        <p:spPr>
          <a:xfrm>
            <a:off x="1611086" y="3429000"/>
            <a:ext cx="6246223" cy="330143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Wazuh Agent Table – 'ubuntu-wazuh' Never Connected</a:t>
            </a:r>
          </a:p>
        </p:txBody>
      </p:sp>
      <p:sp>
        <p:nvSpPr>
          <p:cNvPr id="3" name="Content Placeholder 2"/>
          <p:cNvSpPr>
            <a:spLocks noGrp="1"/>
          </p:cNvSpPr>
          <p:nvPr>
            <p:ph idx="1"/>
          </p:nvPr>
        </p:nvSpPr>
        <p:spPr/>
        <p:txBody>
          <a:bodyPr/>
          <a:lstStyle/>
          <a:p>
            <a:endParaRPr/>
          </a:p>
          <a:p>
            <a:pPr lvl="1">
              <a:defRPr sz="2200">
                <a:solidFill>
                  <a:srgbClr val="FFFFFF"/>
                </a:solidFill>
              </a:defRPr>
            </a:pPr>
            <a:r>
              <a:t>ubuntu-wazuh agent created on the manager</a:t>
            </a:r>
          </a:p>
          <a:p>
            <a:pPr lvl="1">
              <a:defRPr sz="2200">
                <a:solidFill>
                  <a:srgbClr val="FFFFFF"/>
                </a:solidFill>
              </a:defRPr>
            </a:pPr>
            <a:r>
              <a:t>Status remained 'never connected' despite install attempts</a:t>
            </a:r>
          </a:p>
          <a:p>
            <a:pPr lvl="1">
              <a:defRPr sz="2200">
                <a:solidFill>
                  <a:srgbClr val="FFFFFF"/>
                </a:solidFill>
              </a:defRPr>
            </a:pPr>
            <a:r>
              <a:t>Indicated an issue between the agent and manager (network or keys)</a:t>
            </a:r>
          </a:p>
        </p:txBody>
      </p:sp>
      <p:pic>
        <p:nvPicPr>
          <p:cNvPr id="4" name="Picture 3" descr="e4c21b37-6493-49c2-bc9a-d32f12f96f47.png"/>
          <p:cNvPicPr>
            <a:picLocks noChangeAspect="1"/>
          </p:cNvPicPr>
          <p:nvPr/>
        </p:nvPicPr>
        <p:blipFill>
          <a:blip r:embed="rId3"/>
          <a:stretch>
            <a:fillRect/>
          </a:stretch>
        </p:blipFill>
        <p:spPr>
          <a:xfrm>
            <a:off x="90228" y="3863181"/>
            <a:ext cx="9404580" cy="258116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Wazuh Agent Logs – agent_control Not Found</a:t>
            </a:r>
          </a:p>
        </p:txBody>
      </p:sp>
      <p:sp>
        <p:nvSpPr>
          <p:cNvPr id="3" name="Content Placeholder 2"/>
          <p:cNvSpPr>
            <a:spLocks noGrp="1"/>
          </p:cNvSpPr>
          <p:nvPr>
            <p:ph idx="1"/>
          </p:nvPr>
        </p:nvSpPr>
        <p:spPr/>
        <p:txBody>
          <a:bodyPr/>
          <a:lstStyle/>
          <a:p>
            <a:endParaRPr dirty="0"/>
          </a:p>
          <a:p>
            <a:pPr lvl="1">
              <a:defRPr sz="2200">
                <a:solidFill>
                  <a:srgbClr val="FFFFFF"/>
                </a:solidFill>
              </a:defRPr>
            </a:pPr>
            <a:r>
              <a:rPr dirty="0"/>
              <a:t>Restarted </a:t>
            </a:r>
            <a:r>
              <a:rPr dirty="0" err="1"/>
              <a:t>wazuh</a:t>
            </a:r>
            <a:r>
              <a:rPr dirty="0"/>
              <a:t>-agent service using </a:t>
            </a:r>
            <a:r>
              <a:rPr dirty="0" err="1"/>
              <a:t>systemctl</a:t>
            </a:r>
            <a:endParaRPr dirty="0"/>
          </a:p>
          <a:p>
            <a:pPr lvl="1">
              <a:defRPr sz="2200">
                <a:solidFill>
                  <a:srgbClr val="FFFFFF"/>
                </a:solidFill>
              </a:defRPr>
            </a:pPr>
            <a:r>
              <a:rPr dirty="0"/>
              <a:t>Logs showed agent trying to connect to 192.168.187.1:1514/</a:t>
            </a:r>
            <a:r>
              <a:rPr dirty="0" err="1"/>
              <a:t>tcp</a:t>
            </a:r>
            <a:endParaRPr dirty="0"/>
          </a:p>
          <a:p>
            <a:pPr lvl="1">
              <a:defRPr sz="2200">
                <a:solidFill>
                  <a:srgbClr val="FFFFFF"/>
                </a:solidFill>
              </a:defRPr>
            </a:pPr>
            <a:r>
              <a:rPr dirty="0"/>
              <a:t>Running /var/</a:t>
            </a:r>
            <a:r>
              <a:rPr dirty="0" err="1"/>
              <a:t>ossec</a:t>
            </a:r>
            <a:r>
              <a:rPr dirty="0"/>
              <a:t>/bin/</a:t>
            </a:r>
            <a:r>
              <a:rPr dirty="0" err="1"/>
              <a:t>agent_control</a:t>
            </a:r>
            <a:r>
              <a:rPr dirty="0"/>
              <a:t> failed: command not found</a:t>
            </a:r>
          </a:p>
        </p:txBody>
      </p:sp>
      <p:pic>
        <p:nvPicPr>
          <p:cNvPr id="4" name="Picture 3" descr="c9549d04-96eb-4d0d-87e7-574aa503eb7f.png"/>
          <p:cNvPicPr>
            <a:picLocks noChangeAspect="1"/>
          </p:cNvPicPr>
          <p:nvPr/>
        </p:nvPicPr>
        <p:blipFill>
          <a:blip r:embed="rId3"/>
          <a:stretch>
            <a:fillRect/>
          </a:stretch>
        </p:blipFill>
        <p:spPr>
          <a:xfrm>
            <a:off x="1632857" y="3790407"/>
            <a:ext cx="6357256" cy="30438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Wazuh Logs – Duplicate Agent Name Error</a:t>
            </a:r>
          </a:p>
        </p:txBody>
      </p:sp>
      <p:sp>
        <p:nvSpPr>
          <p:cNvPr id="3" name="Content Placeholder 2"/>
          <p:cNvSpPr>
            <a:spLocks noGrp="1"/>
          </p:cNvSpPr>
          <p:nvPr>
            <p:ph idx="1"/>
          </p:nvPr>
        </p:nvSpPr>
        <p:spPr/>
        <p:txBody>
          <a:bodyPr/>
          <a:lstStyle/>
          <a:p>
            <a:endParaRPr/>
          </a:p>
          <a:p>
            <a:pPr lvl="1">
              <a:defRPr sz="2200">
                <a:solidFill>
                  <a:srgbClr val="FFFFFF"/>
                </a:solidFill>
              </a:defRPr>
            </a:pPr>
            <a:r>
              <a:t>Agent started using hostname LAPTOP-7B26NLN9</a:t>
            </a:r>
          </a:p>
          <a:p>
            <a:pPr lvl="1">
              <a:defRPr sz="2200">
                <a:solidFill>
                  <a:srgbClr val="FFFFFF"/>
                </a:solidFill>
              </a:defRPr>
            </a:pPr>
            <a:r>
              <a:t>Manager reported 'Duplicate agent name' and refused enrollment</a:t>
            </a:r>
          </a:p>
          <a:p>
            <a:pPr lvl="1">
              <a:defRPr sz="2200">
                <a:solidFill>
                  <a:srgbClr val="FFFFFF"/>
                </a:solidFill>
              </a:defRPr>
            </a:pPr>
            <a:r>
              <a:t>Blocked the agent from being added until old registration was removed</a:t>
            </a:r>
          </a:p>
        </p:txBody>
      </p:sp>
      <p:pic>
        <p:nvPicPr>
          <p:cNvPr id="4" name="Picture 3" descr="c27972c1-c0ca-489b-ba5e-466876b57e56.png"/>
          <p:cNvPicPr>
            <a:picLocks noChangeAspect="1"/>
          </p:cNvPicPr>
          <p:nvPr/>
        </p:nvPicPr>
        <p:blipFill>
          <a:blip r:embed="rId3"/>
          <a:stretch>
            <a:fillRect/>
          </a:stretch>
        </p:blipFill>
        <p:spPr>
          <a:xfrm>
            <a:off x="141450" y="4680858"/>
            <a:ext cx="8427784" cy="8837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Agent Authentication Success – New Key Received</a:t>
            </a:r>
          </a:p>
        </p:txBody>
      </p:sp>
      <p:sp>
        <p:nvSpPr>
          <p:cNvPr id="3" name="Content Placeholder 2"/>
          <p:cNvSpPr>
            <a:spLocks noGrp="1"/>
          </p:cNvSpPr>
          <p:nvPr>
            <p:ph idx="1"/>
          </p:nvPr>
        </p:nvSpPr>
        <p:spPr/>
        <p:txBody>
          <a:bodyPr/>
          <a:lstStyle/>
          <a:p>
            <a:endParaRPr/>
          </a:p>
          <a:p>
            <a:pPr lvl="1">
              <a:defRPr sz="2200">
                <a:solidFill>
                  <a:srgbClr val="FFFFFF"/>
                </a:solidFill>
              </a:defRPr>
            </a:pPr>
            <a:r>
              <a:t>Removed old client.keys to clear previous registrations</a:t>
            </a:r>
          </a:p>
          <a:p>
            <a:pPr lvl="1">
              <a:defRPr sz="2200">
                <a:solidFill>
                  <a:srgbClr val="FFFFFF"/>
                </a:solidFill>
              </a:defRPr>
            </a:pPr>
            <a:r>
              <a:t>Ran agent-auth against manager at 192.168.187.1 with name ubuntu-wazuh</a:t>
            </a:r>
          </a:p>
          <a:p>
            <a:pPr lvl="1">
              <a:defRPr sz="2200">
                <a:solidFill>
                  <a:srgbClr val="FFFFFF"/>
                </a:solidFill>
              </a:defRPr>
            </a:pPr>
            <a:r>
              <a:t>systemctl status showed wazuh-agent service active and running modules</a:t>
            </a:r>
          </a:p>
        </p:txBody>
      </p:sp>
      <p:pic>
        <p:nvPicPr>
          <p:cNvPr id="4" name="Picture 3" descr="1bc31e37-9c96-45c1-8deb-df6aab3f6575.png"/>
          <p:cNvPicPr>
            <a:picLocks noChangeAspect="1"/>
          </p:cNvPicPr>
          <p:nvPr/>
        </p:nvPicPr>
        <p:blipFill>
          <a:blip r:embed="rId3"/>
          <a:stretch>
            <a:fillRect/>
          </a:stretch>
        </p:blipFill>
        <p:spPr>
          <a:xfrm>
            <a:off x="2599680" y="3863181"/>
            <a:ext cx="6293950" cy="298681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Troubleshooting Timeline – November 2025</a:t>
            </a:r>
          </a:p>
        </p:txBody>
      </p:sp>
      <p:sp>
        <p:nvSpPr>
          <p:cNvPr id="3" name="Content Placeholder 2"/>
          <p:cNvSpPr>
            <a:spLocks noGrp="1"/>
          </p:cNvSpPr>
          <p:nvPr>
            <p:ph idx="1"/>
          </p:nvPr>
        </p:nvSpPr>
        <p:spPr/>
        <p:txBody>
          <a:bodyPr/>
          <a:lstStyle/>
          <a:p>
            <a:endParaRPr/>
          </a:p>
          <a:p>
            <a:pPr lvl="1">
              <a:defRPr sz="2200">
                <a:solidFill>
                  <a:srgbClr val="FFFFFF"/>
                </a:solidFill>
              </a:defRPr>
            </a:pPr>
            <a:r>
              <a:t>Nov 1–5: WSL and VM networking issues ('disconnected' states)</a:t>
            </a:r>
          </a:p>
          <a:p>
            <a:pPr lvl="1">
              <a:defRPr sz="2200">
                <a:solidFill>
                  <a:srgbClr val="FFFFFF"/>
                </a:solidFill>
              </a:defRPr>
            </a:pPr>
            <a:r>
              <a:t>Nov 6–9: pfSense LAN IP/mask misconfiguration</a:t>
            </a:r>
          </a:p>
          <a:p>
            <a:pPr lvl="1">
              <a:defRPr sz="2200">
                <a:solidFill>
                  <a:srgbClr val="FFFFFF"/>
                </a:solidFill>
              </a:defRPr>
            </a:pPr>
            <a:r>
              <a:t>Nov 10–14: Wazuh agent install problems and missing binaries</a:t>
            </a:r>
          </a:p>
          <a:p>
            <a:pPr lvl="1">
              <a:defRPr sz="2200">
                <a:solidFill>
                  <a:srgbClr val="FFFFFF"/>
                </a:solidFill>
              </a:defRPr>
            </a:pPr>
            <a:r>
              <a:t>Nov 15–17: Duplicate agent name and key errors</a:t>
            </a:r>
          </a:p>
          <a:p>
            <a:pPr lvl="1">
              <a:defRPr sz="2200">
                <a:solidFill>
                  <a:srgbClr val="FFFFFF"/>
                </a:solidFill>
              </a:defRPr>
            </a:pPr>
            <a:r>
              <a:t>Nov 18–19: Re-enrollment, new keys, and final connectivity</a:t>
            </a:r>
          </a:p>
          <a:p>
            <a:pPr lvl="1">
              <a:defRPr sz="2200">
                <a:solidFill>
                  <a:srgbClr val="FFFFFF"/>
                </a:solidFill>
              </a:defRPr>
            </a:pPr>
            <a:r>
              <a:t>Nov 20: Stable SOC pipeline from endpoint → Wazuh → dashboards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Monday.com Board – Early Progress</a:t>
            </a:r>
          </a:p>
        </p:txBody>
      </p:sp>
      <p:sp>
        <p:nvSpPr>
          <p:cNvPr id="3" name="Content Placeholder 2"/>
          <p:cNvSpPr>
            <a:spLocks noGrp="1"/>
          </p:cNvSpPr>
          <p:nvPr>
            <p:ph idx="1"/>
          </p:nvPr>
        </p:nvSpPr>
        <p:spPr/>
        <p:txBody>
          <a:bodyPr/>
          <a:lstStyle/>
          <a:p>
            <a:endParaRPr/>
          </a:p>
          <a:p>
            <a:pPr lvl="1">
              <a:defRPr sz="2200">
                <a:solidFill>
                  <a:srgbClr val="FFFFFF"/>
                </a:solidFill>
              </a:defRPr>
            </a:pPr>
            <a:r>
              <a:t>Days 3–12 show strong progress: lab build, Wazuh install, and early dashboards</a:t>
            </a:r>
          </a:p>
          <a:p>
            <a:pPr lvl="1">
              <a:defRPr sz="2200">
                <a:solidFill>
                  <a:srgbClr val="FFFFFF"/>
                </a:solidFill>
              </a:defRPr>
            </a:pPr>
            <a:r>
              <a:t>Many items marked 'Done' or 'Working on it'</a:t>
            </a:r>
          </a:p>
          <a:p>
            <a:pPr lvl="1">
              <a:defRPr sz="2200">
                <a:solidFill>
                  <a:srgbClr val="FFFFFF"/>
                </a:solidFill>
              </a:defRPr>
            </a:pPr>
            <a:r>
              <a:t>Demonstrates a solid start before the heavier troubleshooting phase</a:t>
            </a:r>
          </a:p>
        </p:txBody>
      </p:sp>
      <p:pic>
        <p:nvPicPr>
          <p:cNvPr id="4" name="Picture 3" descr="ca826712-4ecd-4736-8364-63f4c48476b3.png"/>
          <p:cNvPicPr>
            <a:picLocks noChangeAspect="1"/>
          </p:cNvPicPr>
          <p:nvPr/>
        </p:nvPicPr>
        <p:blipFill>
          <a:blip r:embed="rId3"/>
          <a:stretch>
            <a:fillRect/>
          </a:stretch>
        </p:blipFill>
        <p:spPr>
          <a:xfrm>
            <a:off x="2111829" y="4064521"/>
            <a:ext cx="4929051" cy="19774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b="1">
                <a:solidFill>
                  <a:srgbClr val="D4AF37"/>
                </a:solidFill>
              </a:defRPr>
            </a:pPr>
            <a:r>
              <a:t>Monday.com Board – Stuck During Troubleshooting</a:t>
            </a:r>
          </a:p>
        </p:txBody>
      </p:sp>
      <p:sp>
        <p:nvSpPr>
          <p:cNvPr id="3" name="Content Placeholder 2"/>
          <p:cNvSpPr>
            <a:spLocks noGrp="1"/>
          </p:cNvSpPr>
          <p:nvPr>
            <p:ph idx="1"/>
          </p:nvPr>
        </p:nvSpPr>
        <p:spPr/>
        <p:txBody>
          <a:bodyPr/>
          <a:lstStyle/>
          <a:p>
            <a:endParaRPr/>
          </a:p>
          <a:p>
            <a:pPr lvl="1">
              <a:defRPr sz="2200">
                <a:solidFill>
                  <a:srgbClr val="FFFFFF"/>
                </a:solidFill>
              </a:defRPr>
            </a:pPr>
            <a:r>
              <a:t>Days 16–26 appear 'Stuck' on the board</a:t>
            </a:r>
          </a:p>
          <a:p>
            <a:pPr lvl="1">
              <a:defRPr sz="2200">
                <a:solidFill>
                  <a:srgbClr val="FFFFFF"/>
                </a:solidFill>
              </a:defRPr>
            </a:pPr>
            <a:r>
              <a:t>In reality, time was spent deep in troubleshooting agent and network issues</a:t>
            </a:r>
          </a:p>
          <a:p>
            <a:pPr lvl="1">
              <a:defRPr sz="2200">
                <a:solidFill>
                  <a:srgbClr val="FFFFFF"/>
                </a:solidFill>
              </a:defRPr>
            </a:pPr>
            <a:r>
              <a:t>Plan is to retrospectively update these tasks with what actually got done</a:t>
            </a:r>
          </a:p>
        </p:txBody>
      </p:sp>
      <p:pic>
        <p:nvPicPr>
          <p:cNvPr id="4" name="Picture 3" descr="64f19afc-e2b0-4c63-bcdd-19ea095dcd07.png"/>
          <p:cNvPicPr>
            <a:picLocks noChangeAspect="1"/>
          </p:cNvPicPr>
          <p:nvPr/>
        </p:nvPicPr>
        <p:blipFill>
          <a:blip r:embed="rId3"/>
          <a:stretch>
            <a:fillRect/>
          </a:stretch>
        </p:blipFill>
        <p:spPr>
          <a:xfrm>
            <a:off x="3563982" y="4487092"/>
            <a:ext cx="5071623" cy="20962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Catch-Up Plan After November 20</a:t>
            </a:r>
          </a:p>
        </p:txBody>
      </p:sp>
      <p:sp>
        <p:nvSpPr>
          <p:cNvPr id="3" name="Content Placeholder 2"/>
          <p:cNvSpPr>
            <a:spLocks noGrp="1"/>
          </p:cNvSpPr>
          <p:nvPr>
            <p:ph idx="1"/>
          </p:nvPr>
        </p:nvSpPr>
        <p:spPr/>
        <p:txBody>
          <a:bodyPr/>
          <a:lstStyle/>
          <a:p>
            <a:endParaRPr dirty="0"/>
          </a:p>
          <a:p>
            <a:pPr lvl="1">
              <a:defRPr sz="2200">
                <a:solidFill>
                  <a:srgbClr val="FFFFFF"/>
                </a:solidFill>
              </a:defRPr>
            </a:pPr>
            <a:r>
              <a:rPr dirty="0"/>
              <a:t>Update Monday.com Days 11–27 with accurate progress and notes</a:t>
            </a:r>
          </a:p>
          <a:p>
            <a:pPr lvl="1">
              <a:defRPr sz="2200">
                <a:solidFill>
                  <a:srgbClr val="FFFFFF"/>
                </a:solidFill>
              </a:defRPr>
            </a:pPr>
            <a:r>
              <a:rPr dirty="0"/>
              <a:t>Finalize </a:t>
            </a:r>
            <a:r>
              <a:rPr dirty="0" err="1"/>
              <a:t>Wazuh</a:t>
            </a:r>
            <a:r>
              <a:rPr dirty="0"/>
              <a:t> agents for Ubuntu and Parrot OS</a:t>
            </a:r>
          </a:p>
          <a:p>
            <a:pPr lvl="1">
              <a:defRPr sz="2200">
                <a:solidFill>
                  <a:srgbClr val="FFFFFF"/>
                </a:solidFill>
              </a:defRPr>
            </a:pPr>
            <a:r>
              <a:rPr dirty="0"/>
              <a:t>Run Red Team attack simulations and confirm Blue Team detections</a:t>
            </a:r>
          </a:p>
          <a:p>
            <a:pPr lvl="1">
              <a:defRPr sz="2200">
                <a:solidFill>
                  <a:srgbClr val="FFFFFF"/>
                </a:solidFill>
              </a:defRPr>
            </a:pPr>
            <a:r>
              <a:rPr dirty="0"/>
              <a:t>Complete SOC dashboards and documentation for playbooks and reports</a:t>
            </a:r>
          </a:p>
          <a:p>
            <a:pPr lvl="1">
              <a:defRPr sz="2200">
                <a:solidFill>
                  <a:srgbClr val="FFFFFF"/>
                </a:solidFill>
              </a:defRPr>
            </a:pPr>
            <a:r>
              <a:rPr dirty="0"/>
              <a:t>Prepare polished end-to-end demo for December presentation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Balancing School, Work, and Life</a:t>
            </a:r>
          </a:p>
        </p:txBody>
      </p:sp>
      <p:sp>
        <p:nvSpPr>
          <p:cNvPr id="3" name="Content Placeholder 2"/>
          <p:cNvSpPr>
            <a:spLocks noGrp="1"/>
          </p:cNvSpPr>
          <p:nvPr>
            <p:ph idx="1"/>
          </p:nvPr>
        </p:nvSpPr>
        <p:spPr/>
        <p:txBody>
          <a:bodyPr/>
          <a:lstStyle/>
          <a:p>
            <a:endParaRPr/>
          </a:p>
          <a:p>
            <a:pPr lvl="1">
              <a:defRPr sz="2200">
                <a:solidFill>
                  <a:srgbClr val="FFFFFF"/>
                </a:solidFill>
              </a:defRPr>
            </a:pPr>
            <a:r>
              <a:t>Faced medical and personal challenges during the month</a:t>
            </a:r>
          </a:p>
          <a:p>
            <a:pPr lvl="1">
              <a:defRPr sz="2200">
                <a:solidFill>
                  <a:srgbClr val="FFFFFF"/>
                </a:solidFill>
              </a:defRPr>
            </a:pPr>
            <a:r>
              <a:t>Communicated proactively with administrative staff about absences</a:t>
            </a:r>
          </a:p>
          <a:p>
            <a:pPr lvl="1">
              <a:defRPr sz="2200">
                <a:solidFill>
                  <a:srgbClr val="FFFFFF"/>
                </a:solidFill>
              </a:defRPr>
            </a:pPr>
            <a:r>
              <a:t>Learned to balance family, mental health, and technical work</a:t>
            </a:r>
          </a:p>
          <a:p>
            <a:pPr lvl="1">
              <a:defRPr sz="2200">
                <a:solidFill>
                  <a:srgbClr val="FFFFFF"/>
                </a:solidFill>
              </a:defRPr>
            </a:pPr>
            <a:r>
              <a:t>Staying transparent helped you stay supported and on track</a:t>
            </a:r>
          </a:p>
        </p:txBody>
      </p:sp>
      <p:pic>
        <p:nvPicPr>
          <p:cNvPr id="4" name="Picture 3" descr="5edee34e-3129-462b-9e84-9cd6990d7f31.png"/>
          <p:cNvPicPr>
            <a:picLocks noChangeAspect="1"/>
          </p:cNvPicPr>
          <p:nvPr/>
        </p:nvPicPr>
        <p:blipFill>
          <a:blip r:embed="rId3"/>
          <a:stretch>
            <a:fillRect/>
          </a:stretch>
        </p:blipFill>
        <p:spPr>
          <a:xfrm>
            <a:off x="1441269" y="4487091"/>
            <a:ext cx="5625098" cy="182163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204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D4AF37"/>
                </a:solidFill>
              </a:defRPr>
            </a:pPr>
            <a:r>
              <a:t>Key Lessons from This Month</a:t>
            </a:r>
          </a:p>
        </p:txBody>
      </p:sp>
      <p:sp>
        <p:nvSpPr>
          <p:cNvPr id="3" name="Content Placeholder 2"/>
          <p:cNvSpPr>
            <a:spLocks noGrp="1"/>
          </p:cNvSpPr>
          <p:nvPr>
            <p:ph idx="1"/>
          </p:nvPr>
        </p:nvSpPr>
        <p:spPr/>
        <p:txBody>
          <a:bodyPr/>
          <a:lstStyle/>
          <a:p>
            <a:endParaRPr/>
          </a:p>
          <a:p>
            <a:pPr lvl="1">
              <a:defRPr sz="2200">
                <a:solidFill>
                  <a:srgbClr val="FFFFFF"/>
                </a:solidFill>
              </a:defRPr>
            </a:pPr>
            <a:r>
              <a:t>Troubleshooting is the real teacher in cybersecurity and SOC work</a:t>
            </a:r>
          </a:p>
          <a:p>
            <a:pPr lvl="1">
              <a:defRPr sz="2200">
                <a:solidFill>
                  <a:srgbClr val="FFFFFF"/>
                </a:solidFill>
              </a:defRPr>
            </a:pPr>
            <a:r>
              <a:t>Logs and error messages are your best friends, not your enemies</a:t>
            </a:r>
          </a:p>
          <a:p>
            <a:pPr lvl="1">
              <a:defRPr sz="2200">
                <a:solidFill>
                  <a:srgbClr val="FFFFFF"/>
                </a:solidFill>
              </a:defRPr>
            </a:pPr>
            <a:r>
              <a:t>Planning and documentation (.md files, tutorials) matter as much as configs</a:t>
            </a:r>
          </a:p>
          <a:p>
            <a:pPr lvl="1">
              <a:defRPr sz="2200">
                <a:solidFill>
                  <a:srgbClr val="FFFFFF"/>
                </a:solidFill>
              </a:defRPr>
            </a:pPr>
            <a:r>
              <a:t>Balancing life, school, and long-term career goals requires communication</a:t>
            </a:r>
          </a:p>
          <a:p>
            <a:pPr lvl="1">
              <a:defRPr sz="2200">
                <a:solidFill>
                  <a:srgbClr val="FFFFFF"/>
                </a:solidFill>
              </a:defRPr>
            </a:pPr>
            <a:r>
              <a:t>Every error you fixed moves you closer to being a real SOC analyst in law enforcement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2199</Words>
  <Application>Microsoft Office PowerPoint</Application>
  <PresentationFormat>On-screen Show (4:3)</PresentationFormat>
  <Paragraphs>162</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Mini SOC for Law Enforcement – November 2025</vt:lpstr>
      <vt:lpstr>Project Overview: Mini SOC for Law Enforcement</vt:lpstr>
      <vt:lpstr>New Technology Integrated</vt:lpstr>
      <vt:lpstr>MD File: Learning PLAN</vt:lpstr>
      <vt:lpstr>MD File: Observability &amp; Logging Notes</vt:lpstr>
      <vt:lpstr>MD File: AI Triage Tutorial</vt:lpstr>
      <vt:lpstr>Parrot OS – Red Team Attacker Machine</vt:lpstr>
      <vt:lpstr>Ubuntu VM – Blue Team Monitored Endpoint</vt:lpstr>
      <vt:lpstr>Ubuntu Network Interfaces – enp0s3 &amp; enp0s8</vt:lpstr>
      <vt:lpstr>pfSense Firewall – System &amp; Kernel Logs</vt:lpstr>
      <vt:lpstr>Windows Host – Wazuh Agents &amp; Network Info</vt:lpstr>
      <vt:lpstr>Wazuh Dashboard – Initial Empty State</vt:lpstr>
      <vt:lpstr>Wazuh Agent Table – 'ubuntu-wazuh' Never Connected</vt:lpstr>
      <vt:lpstr>Wazuh Agent Logs – agent_control Not Found</vt:lpstr>
      <vt:lpstr>Wazuh Logs – Duplicate Agent Name Error</vt:lpstr>
      <vt:lpstr>Agent Authentication Success – New Key Received</vt:lpstr>
      <vt:lpstr>Troubleshooting Timeline – November 2025</vt:lpstr>
      <vt:lpstr>Monday.com Board – Early Progress</vt:lpstr>
      <vt:lpstr>Monday.com Board – Stuck During Troubleshooting</vt:lpstr>
      <vt:lpstr>Catch-Up Plan After November 20</vt:lpstr>
      <vt:lpstr>Balancing School, Work, and Life</vt:lpstr>
      <vt:lpstr>Key Lessons from This Month</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Jordan Fields</cp:lastModifiedBy>
  <cp:revision>3</cp:revision>
  <dcterms:created xsi:type="dcterms:W3CDTF">2013-01-27T09:14:16Z</dcterms:created>
  <dcterms:modified xsi:type="dcterms:W3CDTF">2025-11-20T17:46:44Z</dcterms:modified>
  <cp:category/>
</cp:coreProperties>
</file>